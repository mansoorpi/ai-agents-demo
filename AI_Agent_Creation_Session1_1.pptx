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 snapToObjects="1">
      <p:cViewPr varScale="1">
        <p:scale>
          <a:sx n="126" d="100"/>
          <a:sy n="126" d="100"/>
        </p:scale>
        <p:origin x="23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31611-0ACB-3F4C-8ECF-D6F731A34148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D0066-1965-584C-B72F-6F5C651B6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4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D0066-1965-584C-B72F-6F5C651B63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0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52F2-D37F-A840-8E49-8E79FE49C22E}" type="datetime1">
              <a:rPr lang="en-IN" smtClean="0"/>
              <a:t>03/03/26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81A45-EB19-4542-B628-F9DD94C5D0BC}" type="datetime1">
              <a:rPr lang="en-IN" smtClean="0"/>
              <a:t>03/03/26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A97CC-DAF9-8946-AA10-F0A48C916A3F}" type="datetime1">
              <a:rPr lang="en-IN" smtClean="0"/>
              <a:t>03/03/26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B590-2E07-3B47-912C-A653E0C4BEF5}" type="datetime1">
              <a:rPr lang="en-IN" smtClean="0"/>
              <a:t>03/03/26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AC5D9-4586-EA41-B608-1AF8A6DE2107}" type="datetime1">
              <a:rPr lang="en-IN" smtClean="0"/>
              <a:t>03/03/26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FB87-C2D9-9044-BFDD-A08203F505E5}" type="datetime1">
              <a:rPr lang="en-IN" smtClean="0"/>
              <a:t>03/03/26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717A8-313D-8B46-9407-94AEAE133E95}" type="datetime1">
              <a:rPr lang="en-IN" smtClean="0"/>
              <a:t>03/03/26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3F3C-91C3-1E48-9001-6A5F2C355EB1}" type="datetime1">
              <a:rPr lang="en-IN" smtClean="0"/>
              <a:t>03/03/26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44950-6934-2A4A-A32F-085E9E80566B}" type="datetime1">
              <a:rPr lang="en-IN" smtClean="0"/>
              <a:t>03/03/26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2AB0-772A-044E-A8B3-E93E50C758D2}" type="datetime1">
              <a:rPr lang="en-IN" smtClean="0"/>
              <a:t>03/03/26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9127-4678-654A-8FFB-2651EC381192}" type="datetime1">
              <a:rPr lang="en-IN" smtClean="0"/>
              <a:t>03/03/26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AA9B5-BBDC-6247-A387-0C20B216EA23}" type="datetime1">
              <a:rPr lang="en-IN" smtClean="0"/>
              <a:t>03/03/26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 TowardsAGI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08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0920"/>
            <a:ext cx="10972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418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Agent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66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A5FA"/>
                </a:solidFill>
              </a:rPr>
              <a:t>From LLM to Controlled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3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Session 1: From Basics to Controlled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064000"/>
            <a:ext cx="111556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201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12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Mansoor Pasha I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0" y="4201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5212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</a:rPr>
              <a:t>TowardsAGI UK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0" y="4201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212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March 0</a:t>
            </a:r>
            <a:r>
              <a:rPr lang="en-US" sz="1600" b="1" i="0" dirty="0">
                <a:solidFill>
                  <a:srgbClr val="FFFFFF"/>
                </a:solidFill>
              </a:rPr>
              <a:t>4</a:t>
            </a:r>
            <a:r>
              <a:rPr sz="1600" b="1" i="0" dirty="0">
                <a:solidFill>
                  <a:srgbClr val="FFFFFF"/>
                </a:solidFill>
              </a:rPr>
              <a:t>, 2026</a:t>
            </a:r>
          </a:p>
        </p:txBody>
      </p:sp>
      <p:pic>
        <p:nvPicPr>
          <p:cNvPr id="1028" name="Picture 4" descr="Towards AGI | LinkedIn">
            <a:extLst>
              <a:ext uri="{FF2B5EF4-FFF2-40B4-BE49-F238E27FC236}">
                <a16:creationId xmlns:a16="http://schemas.microsoft.com/office/drawing/2014/main" id="{7F4F054B-84B2-D214-7BDB-ACE77DBCC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" y="1363033"/>
            <a:ext cx="922973" cy="86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A2468B2-9D97-A3E9-FB47-78A7E5FE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3292-19DA-6049-935C-38DD95D0AFEE}" type="datetime1">
              <a:rPr lang="en-IN" smtClean="0"/>
              <a:t>03/03/26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2FF12DB-63CD-CCB6-3C98-B40B4ED9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Are We Talking About AI Agents?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669280" cy="5396865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</a:rPr>
              <a:t>THE CURRENT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364" y="1325880"/>
            <a:ext cx="219456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2628" y="1371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✓  ChatGPT is Powerful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However, for enterprise automation, raw LLMs face critical limitations: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5120640" cy="621792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Lack of Granular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73552"/>
            <a:ext cx="5120640" cy="621792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Safety &amp; Guardrails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78224"/>
            <a:ext cx="5120640" cy="621792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1879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Long-term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82896"/>
            <a:ext cx="5120640" cy="621792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Inability to Use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822960"/>
            <a:ext cx="5303520" cy="5396865"/>
          </a:xfrm>
          <a:prstGeom prst="roundRect">
            <a:avLst/>
          </a:prstGeom>
          <a:solidFill>
            <a:srgbClr val="2D5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4FF"/>
                </a:solidFill>
              </a:rPr>
              <a:t>THE CRITICAL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Is ChatGPT enough
for real enterprise
automation?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32C2E77-BABE-9F08-C601-965E9E48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C3272-4276-2444-B593-85694255CF70}" type="datetime1">
              <a:rPr lang="en-IN" smtClean="0"/>
              <a:t>03/03/26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3F9EAFB-44EE-AE31-7855-A29B41CB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35128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What is an </a:t>
            </a:r>
            <a:r>
              <a:rPr sz="2800" b="1" i="0" dirty="0">
                <a:solidFill>
                  <a:srgbClr val="FFFFFF"/>
                </a:solidFill>
              </a:rPr>
              <a:t>LLM</a:t>
            </a:r>
            <a:r>
              <a:rPr b="1" i="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6908"/>
            <a:ext cx="11247120" cy="777240"/>
          </a:xfrm>
          <a:prstGeom prst="roundRect">
            <a:avLst/>
          </a:prstGeom>
          <a:solidFill>
            <a:srgbClr val="16243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543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0A5FA"/>
                </a:solidFill>
              </a:rPr>
              <a:t>Large Language Model  =  Pattern Prediction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CORE FUNCTIONALITY &amp; 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Predicts Next 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Statistically calculates the most likely continuation of text based on training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611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Has No Memory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77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Each request is independent. Doesn't remember previous interactions unless context is passed.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Real-Time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Knowledge is frozen at the training cutoff. Cannot browse live web or use tools natively.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COMMON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5303520" cy="10972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37960" y="2514600"/>
            <a:ext cx="594360" cy="594360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23957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OpenAI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GPT-4o, GPT-3.5 Turbo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11880"/>
            <a:ext cx="5303520" cy="10972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37960" y="3840480"/>
            <a:ext cx="594360" cy="594360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3721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Anthropic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Claude 3.5 Sonnet, Haiku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37760"/>
            <a:ext cx="5303520" cy="109728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37960" y="5166360"/>
            <a:ext cx="594360" cy="594360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Google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Gemini Pro, Gemini Flash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B2537910-90BB-8C76-560C-AB864901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212A9-6985-BF4D-9927-9EA59B2C0E83}" type="datetime1">
              <a:rPr lang="en-IN" smtClean="0"/>
              <a:t>03/03/26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1733D29C-47C7-544E-3C41-40C7991C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</a:rPr>
              <a:t>What is an AI Agent?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822960"/>
          </a:xfrm>
          <a:prstGeom prst="roundRect">
            <a:avLst/>
          </a:prstGeom>
          <a:solidFill>
            <a:srgbClr val="16243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5955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AI Agent  =  LLM  +  Control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THE BRAIN &amp;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CAPABILITIES &amp;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The System Prompt that defines persona, operating rules, and specific behaviors.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Maintains conversation context and state, allowing for multi-turn continuity.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57800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257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Decision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623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Reasoning loops (e.g., ReAct) that plan steps before executing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0604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606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Tool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71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Ability to execute code, search the web, call APIs, or use calculators.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114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80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Safety filters and policy checks to prevent harmful or prohibited outputs.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9196F17B-94AB-B794-8F02-E45EABCB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F0BD6-158F-F441-BD32-0F477006857A}" type="datetime1">
              <a:rPr lang="en-IN" smtClean="0"/>
              <a:t>03/03/26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F61595A-C6FF-6765-735A-B09FD89A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468880" cy="2377440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Sends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0720" y="1554480"/>
            <a:ext cx="2468880" cy="2377440"/>
          </a:xfrm>
          <a:prstGeom prst="roundRect">
            <a:avLst/>
          </a:prstGeom>
          <a:solidFill>
            <a:srgbClr val="1A3DBF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21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76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94A3B8"/>
                </a:solidFill>
              </a:rPr>
              <a:t>Control Logic + Memory +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4560" y="1554480"/>
            <a:ext cx="2468880" cy="2377440"/>
          </a:xfrm>
          <a:prstGeom prst="roundRect">
            <a:avLst/>
          </a:prstGeom>
          <a:solidFill>
            <a:srgbClr val="0C2A1E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B8A6"/>
                </a:solidFill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Pattern Prediction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554480"/>
            <a:ext cx="2468880" cy="2377440"/>
          </a:xfrm>
          <a:prstGeom prst="round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Final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1325880"/>
            <a:ext cx="155448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0168" y="1353312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480560"/>
            <a:ext cx="8686800" cy="1371600"/>
          </a:xfrm>
          <a:prstGeom prst="roundRect">
            <a:avLst/>
          </a:prstGeom>
          <a:solidFill>
            <a:srgbClr val="0F1F3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0312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Key Insight: The LLM is just the brain.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 Agent is the brain + rules + memory.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F8C16B06-6CE4-F1CF-56F5-985B11D6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7AC6-83D2-8440-A9C9-4B74BD79A5BB}" type="datetime1">
              <a:rPr lang="en-IN" smtClean="0"/>
              <a:t>03/03/26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3ACFEBE4-F47F-FA12-A0A5-0533CCF4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Today we will build a complete agent from scratch in 4 steps: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394960" cy="21945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13232" cy="7132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Basic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Create the core LLM connection and handle basic request/response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203555"/>
                </a:solidFill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394960" cy="21945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713232" cy="7132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Control with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2860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Define the persona, tone, and operational rules using instructions.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463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203555"/>
                </a:solidFill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40480"/>
            <a:ext cx="5394960" cy="21945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713232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Add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Implement context retention so the agent remembers previous turns.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203555"/>
                </a:solidFill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840480"/>
            <a:ext cx="5394960" cy="21945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4297680"/>
            <a:ext cx="713232" cy="7132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4251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Add 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Establish safety boundaries and refusal logic for inappropriate requests.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9319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203555"/>
                </a:solidFill>
              </a:rPr>
              <a:t>04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41485ED7-94A5-5F63-7A17-2DEABD62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CC92-CF91-534A-8413-0148882E8459}" type="datetime1">
              <a:rPr lang="en-IN" smtClean="0"/>
              <a:t>03/03/26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7493AF95-0D8B-2CE5-2CAF-D434210F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Step 1: Basic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30352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563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005840"/>
            <a:ext cx="5120640" cy="13716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1155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Call LLM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7276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Initialize connection to model provider (e.g., OpenAI, Anthropic)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880360"/>
            <a:ext cx="530352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99212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651760"/>
            <a:ext cx="5120640" cy="13716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27614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Send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1868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Inject the core instructions defining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526280"/>
            <a:ext cx="530352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62788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97680"/>
            <a:ext cx="5120640" cy="13716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4074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646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Receive and parse the text completion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868680"/>
            <a:ext cx="5212080" cy="5486400"/>
          </a:xfrm>
          <a:prstGeom prst="roundRect">
            <a:avLst/>
          </a:prstGeom>
          <a:solidFill>
            <a:srgbClr val="1A284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114300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Crucial Distinction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This is  NOT ChatGPT.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488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When you use ChatGPT, you are using a pre-built product. Here, we are building the Control Layer ourselves.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200400"/>
            <a:ext cx="4572000" cy="182880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3310128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</a:rPr>
              <a:t>const agent = new Agent({
  model: "gpt-4o",
  system: "You are..."
});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897CC79-8DDC-74B2-C600-49E41D09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109-3652-6B43-A1CB-8E4965514322}" type="datetime1">
              <a:rPr lang="en-IN" smtClean="0"/>
              <a:t>03/03/26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84C803FB-E0EF-3045-2CB4-E711CFFD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-5080"/>
            <a:ext cx="12188952" cy="6873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8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2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Step 2: Controlling Personality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45160"/>
            <a:ext cx="5577840" cy="4959604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828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"Sarcastic"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57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Casual, Witty, Unfiltered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5099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SYSTEM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2752"/>
            <a:ext cx="5029200" cy="82296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5907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8B5CF6"/>
                </a:solidFill>
              </a:rPr>
              <a:t>role: "You are a sarcastic, slightly annoyed assistant who mocks simple questions."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31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SIMULATED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6948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"Oh, look who needs help again. Have you tried turning it on? Or maybe reading the manual? Fine, I'll help."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02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645160"/>
            <a:ext cx="5486400" cy="49377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828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"Enterprise"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257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Professional, Polite,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5099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SYSTEM 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952752"/>
            <a:ext cx="5029200" cy="82296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61505" y="2232151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0A5FA"/>
                </a:solidFill>
              </a:rPr>
              <a:t>role: "You are a formal, helpful enterprise assistant. Be concise and professional."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31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SIMULATED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6948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"Certainly. I can assist you with that inquiry immediately. Please provide the specific error code you are encountering."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729224"/>
            <a:ext cx="6949440" cy="608076"/>
          </a:xfrm>
          <a:prstGeom prst="roundRect">
            <a:avLst/>
          </a:prstGeom>
          <a:solidFill>
            <a:srgbClr val="16243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810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Key 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731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94A3B8"/>
                </a:solidFill>
              </a:rPr>
              <a:t>Same underlying LLM (e.g., GPT-4). Drastically different user experience.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3276" y="42296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</a:rPr>
              <a:t>CONTROL IS EVERYTHING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6BA20A6F-260E-DD80-E40D-271D5BC9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6CA3-D47E-034A-8CA1-6C920BEE0CE6}" type="datetime1">
              <a:rPr lang="en-IN" smtClean="0"/>
              <a:t>03/03/26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999B01DF-1AC2-1288-C3B4-6D6A3430A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Step 3: Adding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Transforming the agent from a simple predictor to a conversational partner.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5486400" cy="4058920"/>
          </a:xfrm>
          <a:prstGeom prst="roundRect">
            <a:avLst/>
          </a:prstGeom>
          <a:solidFill>
            <a:srgbClr val="20101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Without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Stateless: Every interaction is brand new.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Continuity: Forgets your name immediately after you say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Default Behavior: Raw LLM API calls are stateless by default.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91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"Hi, I'm John."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57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"Hello John! How can I help?"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041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"What's my name?"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34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"I don't know your name."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51560"/>
            <a:ext cx="5486400" cy="4058920"/>
          </a:xfrm>
          <a:prstGeom prst="roundRect">
            <a:avLst/>
          </a:prstGeom>
          <a:solidFill>
            <a:srgbClr val="0C201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With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373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Stateful: Maintains a list of past messages.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128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Context Aware: Uses previous turns to inform current answers.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883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Implementation: You must append history to every new prompt.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918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"Hi, I'm John."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57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"Hello John! How can I help?"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41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"What's my name?"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434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"Your name is John."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623560"/>
            <a:ext cx="11612880" cy="685800"/>
          </a:xfrm>
          <a:prstGeom prst="roundRect">
            <a:avLst/>
          </a:prstGeom>
          <a:solidFill>
            <a:srgbClr val="15100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83844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</a:rPr>
              <a:t>TECHNICAL CONSIDERATION: TOKEN GROWTH — Memory isn't free. As the conversation grows, the prompt gets longer (more tokens), which increases cost and latency.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813DFF54-9138-5DA6-346A-4CB96716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AA95-466D-5744-8A84-A899EE02DFEC}" type="datetime1">
              <a:rPr lang="en-IN" smtClean="0"/>
              <a:t>03/03/26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9E96D2DC-E29E-D3A0-82B6-0C17D120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Step 4: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98448"/>
            <a:ext cx="530352" cy="5303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000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097280"/>
            <a:ext cx="5120640" cy="13716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341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Safety Protocols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80031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Block harmful, illegal, or unethical content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852928"/>
            <a:ext cx="530352" cy="5303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9545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651760"/>
            <a:ext cx="5120640" cy="13716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2895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3451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Ensure responses adhere strictly to enterprise guidelines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407407"/>
            <a:ext cx="530352" cy="5303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509007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06240"/>
            <a:ext cx="5120640" cy="137160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45007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Refusal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889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Inject deterministic rules to decline out-of-scope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4320" y="949960"/>
            <a:ext cx="5212080" cy="4719320"/>
          </a:xfrm>
          <a:prstGeom prst="roundRect">
            <a:avLst/>
          </a:prstGeom>
          <a:solidFill>
            <a:srgbClr val="1A101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0080" y="122428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Enforcing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8640" y="1772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Enterprise AI requires predictable safety.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8640" y="22301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 don't just hope the model behaves; we explicitly instruct it on what it cannot do through the System Prompt.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98640" y="3144520"/>
            <a:ext cx="4663440" cy="2067560"/>
          </a:xfrm>
          <a:prstGeom prst="round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81520" y="3263392"/>
            <a:ext cx="42976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4B8A6"/>
                </a:solidFill>
              </a:rPr>
              <a:t>// System Prompt Addition
"You are a helpful assistant."
+ "REFUSAL GUIDELINES:"
  - If asked for financial advice,
    say "I cannot provide financial advice."
  - If asked for medical diagnosis,
    decline immediately.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A37BDA2-46CC-B2F9-A059-476FE7BF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1442-E79F-5E41-857B-86A6377B49D4}" type="datetime1">
              <a:rPr lang="en-IN" smtClean="0"/>
              <a:t>03/03/26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2C368FE-8657-2CDF-2336-3B2404AC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Summary of core concepts covered in today's session: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394960" cy="1527048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13232" cy="7132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19" y="17556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an LLM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24028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 pattern prediction engine that predicts the next token, with no inherent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03555"/>
                </a:solidFill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394960" cy="1527048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713232" cy="7132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17556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an AI Agent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4028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 LLM combined with a control layer, tools, and decision logic.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463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03555"/>
                </a:solidFill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39160"/>
            <a:ext cx="5394960" cy="1527048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3896360"/>
            <a:ext cx="713232" cy="7132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19" y="38232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System Prompt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30784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Defining personality and operational rules through instructions.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033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03555"/>
                </a:solidFill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39160"/>
            <a:ext cx="5394960" cy="1527048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3896360"/>
            <a:ext cx="713232" cy="7132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38232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Memory Basics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30784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Transforming stateless models into context-aware agents using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7033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03555"/>
                </a:solidFill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323840"/>
            <a:ext cx="11430000" cy="10871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5523992"/>
            <a:ext cx="713232" cy="7132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5523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90804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Implementing safety boundaries and policy alignment to ensure controlled outputs in enterprise environments.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571500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03555"/>
                </a:solidFill>
              </a:rPr>
              <a:t>05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6EE21D7F-6C8D-906E-9216-126FFA9A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7721-9F62-8345-A8E7-D00338166C1D}" type="datetime1">
              <a:rPr lang="en-IN" smtClean="0"/>
              <a:t>03/03/26</a:t>
            </a:fld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694F13AE-2FCB-DDC7-EA3E-BF44B82E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731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Next Session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Get ready to give your agent real superpowers.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3769360" cy="512064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1508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640840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COMING SOON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148840"/>
            <a:ext cx="1508760" cy="1508760"/>
          </a:xfrm>
          <a:prstGeom prst="round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487168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0A5FA"/>
                </a:solidFill>
              </a:rPr>
              <a:t>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Building Autonomous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Session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8000" y="1234440"/>
            <a:ext cx="3657600" cy="24231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46600" y="1508760"/>
            <a:ext cx="685800" cy="685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0880" y="23317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Tool Calling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880" y="2834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Learn how LLMs can trigger external functions and APIs intentionally.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1360" y="1234440"/>
            <a:ext cx="3657600" cy="24231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69960" y="1508760"/>
            <a:ext cx="68580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4240" y="23317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Calculator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4240" y="2834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Overcome math hallucinations by connecting a real calculation engine.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8000" y="3931920"/>
            <a:ext cx="3657600" cy="24231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46600" y="4206240"/>
            <a:ext cx="68580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0880" y="50292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Internet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880" y="5532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Give your agent live data access to search the web for real-time info.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41360" y="3931920"/>
            <a:ext cx="3657600" cy="242316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69960" y="4206240"/>
            <a:ext cx="685800" cy="6858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24240" y="50292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 Agentic Behavior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240" y="5532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Moving from simple chat to multi-step reasoning and execution loops.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46015F18-AE10-CE6F-7BF9-1DD59131B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D9CE-7657-3542-8545-94012E796A91}" type="datetime1">
              <a:rPr lang="en-IN" smtClean="0"/>
              <a:t>03/03/26</a:t>
            </a:fld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DF78A4D-9448-1495-6DF0-8FC56F96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TowardsAGI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1109</Words>
  <Application>Microsoft Macintosh PowerPoint</Application>
  <PresentationFormat>Custom</PresentationFormat>
  <Paragraphs>198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Mansoor</cp:lastModifiedBy>
  <cp:revision>8</cp:revision>
  <dcterms:created xsi:type="dcterms:W3CDTF">2013-01-27T09:14:16Z</dcterms:created>
  <dcterms:modified xsi:type="dcterms:W3CDTF">2026-03-03T17:22:36Z</dcterms:modified>
  <cp:category/>
</cp:coreProperties>
</file>